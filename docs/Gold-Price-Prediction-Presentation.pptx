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llege_logo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7167" y="548640"/>
            <a:ext cx="1737360" cy="1737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2331720"/>
            <a:ext cx="107286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Gold Price Prediction using Machine Learning</a:t>
            </a:r>
          </a:p>
          <a:p>
            <a:pPr algn="ctr">
              <a:spcAft>
                <a:spcPts val="600"/>
              </a:spcAft>
            </a:pPr>
            <a:r>
              <a:rPr sz="1800" b="0">
                <a:solidFill>
                  <a:srgbClr val="C9A227"/>
                </a:solidFill>
                <a:latin typeface="Calibri"/>
              </a:rPr>
              <a:t>A Mini Project in Machine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97680"/>
            <a:ext cx="1036289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C9A227"/>
                </a:solidFill>
                <a:latin typeface="Calibri"/>
              </a:rPr>
              <a:t>Submitted by</a:t>
            </a:r>
          </a:p>
          <a:p>
            <a:pPr algn="ctr">
              <a:spcAft>
                <a:spcPts val="14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Sanchay Bhardwaj  (2300650100104)</a:t>
            </a:r>
          </a:p>
          <a:p>
            <a:pPr algn="ctr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Project Guide:  Mrs. Ashna Thakur</a:t>
            </a:r>
          </a:p>
          <a:p>
            <a:pPr algn="ctr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B.S.A. College of Engineering &amp; Technology, Mathura</a:t>
            </a:r>
          </a:p>
          <a:p>
            <a:pPr algn="ctr">
              <a:spcAft>
                <a:spcPts val="600"/>
              </a:spcAft>
            </a:pPr>
            <a:r>
              <a:rPr sz="1200" b="0">
                <a:solidFill>
                  <a:srgbClr val="C9A227"/>
                </a:solidFill>
                <a:latin typeface="Calibri"/>
              </a:rPr>
              <a:t>Dept. of Computer Science &amp; Engineering   |   Session 2026-27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3512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137160"/>
            <a:ext cx="3200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Gold Price Prediction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8016" cy="3840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73952"/>
            <a:ext cx="10362895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Sanchay Bhardwaj (2300650100104)  |  B.S.A. College of Engineering &amp; Technology, Mathura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73952"/>
            <a:ext cx="11887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Slide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82296" cy="42976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371600"/>
            <a:ext cx="10728655" cy="4663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2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  Gold is a globally traded precious metal and a traditional safe-haven asset.</a:t>
            </a:r>
          </a:p>
          <a:p>
            <a:pPr algn="l">
              <a:spcAft>
                <a:spcPts val="22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  Its price is affected by demand, inflation, currency value and market sentiment.</a:t>
            </a:r>
          </a:p>
          <a:p>
            <a:pPr algn="l">
              <a:spcAft>
                <a:spcPts val="22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  Being able to forecast gold prices helps investors and analysts take better decisions.</a:t>
            </a:r>
          </a:p>
          <a:p>
            <a:pPr algn="l">
              <a:spcAft>
                <a:spcPts val="22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  This project builds a Machine Learning model that predicts the monthly price of gold.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3512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137160"/>
            <a:ext cx="3200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Gold Price Prediction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8016" cy="3840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73952"/>
            <a:ext cx="10362895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Sanchay Bhardwaj (2300650100104)  |  B.S.A. College of Engineering &amp; Technology, Mathura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73952"/>
            <a:ext cx="11887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Slide 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82296" cy="42976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371600"/>
            <a:ext cx="10728655" cy="4663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2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  Given the historical monthly price of gold, predict its price for the coming months.</a:t>
            </a:r>
          </a:p>
          <a:p>
            <a:pPr algn="l">
              <a:spcAft>
                <a:spcPts val="22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  This is a supervised regression problem: past behaviour is the input, future price is the output.</a:t>
            </a:r>
          </a:p>
          <a:p>
            <a:pPr algn="l">
              <a:spcAft>
                <a:spcPts val="22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  Multiple models are trained and the most accurate one is kept for prediction.</a:t>
            </a:r>
          </a:p>
          <a:p>
            <a:pPr algn="l">
              <a:spcAft>
                <a:spcPts val="22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  The winning model is then wrapped in a simple desktop application.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3512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137160"/>
            <a:ext cx="3200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Gold Price Prediction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8016" cy="3840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73952"/>
            <a:ext cx="10362895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Sanchay Bhardwaj (2300650100104)  |  B.S.A. College of Engineering &amp; Technology, Mathura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73952"/>
            <a:ext cx="11887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Slide 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82296" cy="42976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371600"/>
            <a:ext cx="10728655" cy="4663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2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  Prepare a clean monthly gold price dataset for the years 2000 to 2024.</a:t>
            </a:r>
          </a:p>
          <a:p>
            <a:pPr algn="l">
              <a:spcAft>
                <a:spcPts val="22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  Engineer features that capture the trend and the short-term momentum of prices.</a:t>
            </a:r>
          </a:p>
          <a:p>
            <a:pPr algn="l">
              <a:spcAft>
                <a:spcPts val="22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  Train and compare RandomForest, Linear Regression and Ridge models.</a:t>
            </a:r>
          </a:p>
          <a:p>
            <a:pPr algn="l">
              <a:spcAft>
                <a:spcPts val="22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  Measure accuracy using MAE, RMSE and R-squared against a naive baseline.</a:t>
            </a:r>
          </a:p>
          <a:p>
            <a:pPr algn="l">
              <a:spcAft>
                <a:spcPts val="22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  Provide a simple desktop GUI so anyone can run a prediction.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3512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137160"/>
            <a:ext cx="3200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Gold Price Prediction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8016" cy="3840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73952"/>
            <a:ext cx="10362895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Sanchay Bhardwaj (2300650100104)  |  B.S.A. College of Engineering &amp; Technology, Mathura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73952"/>
            <a:ext cx="11887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Slide 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82296" cy="42976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371600"/>
            <a:ext cx="10728655" cy="4663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2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  Monthly gold price in USD per troy ounce, from 2000 to 2024 (300 records).</a:t>
            </a:r>
          </a:p>
          <a:p>
            <a:pPr algn="l">
              <a:spcAft>
                <a:spcPts val="22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  Columns in the file: Date, Year, Month and Price.</a:t>
            </a:r>
          </a:p>
          <a:p>
            <a:pPr algn="l">
              <a:spcAft>
                <a:spcPts val="22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  Built from public annual-average anchors with a small momentum effect added.</a:t>
            </a:r>
          </a:p>
          <a:p>
            <a:pPr algn="l">
              <a:spcAft>
                <a:spcPts val="22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  Model features: the last 3 monthly returns, plus the month and the year.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3512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137160"/>
            <a:ext cx="3200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Gold Price Prediction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8016" cy="3840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73952"/>
            <a:ext cx="10362895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Sanchay Bhardwaj (2300650100104)  |  B.S.A. College of Engineering &amp; Technology, Mathura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73952"/>
            <a:ext cx="11887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Slide 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82296" cy="42976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371600"/>
            <a:ext cx="10728655" cy="4663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2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  The model predicts the month-to-month RETURN, not the raw price.</a:t>
            </a:r>
          </a:p>
          <a:p>
            <a:pPr algn="l">
              <a:spcAft>
                <a:spcPts val="22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  Why: tree models cannot guess a price higher than they have seen, so a rising trend breaks them.</a:t>
            </a:r>
          </a:p>
          <a:p>
            <a:pPr algn="l">
              <a:spcAft>
                <a:spcPts val="22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  Price is rebuilt as   next price = last price x (1 + predicted return).</a:t>
            </a:r>
          </a:p>
          <a:p>
            <a:pPr algn="l">
              <a:spcAft>
                <a:spcPts val="22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  Forecasting rolls forward one month at a time, feeding each answer back as the next input.</a:t>
            </a:r>
          </a:p>
          <a:p>
            <a:pPr algn="l">
              <a:spcAft>
                <a:spcPts val="22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  A chronological split is used - the last 60 months are kept for testing.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3512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Technology Used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137160"/>
            <a:ext cx="3200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Gold Price Prediction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8016" cy="3840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73952"/>
            <a:ext cx="10362895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Sanchay Bhardwaj (2300650100104)  |  B.S.A. College of Engineering &amp; Technology, Mathura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73952"/>
            <a:ext cx="11887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Slide 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82296" cy="42976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371600"/>
            <a:ext cx="10728655" cy="4663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2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  Language: Python.</a:t>
            </a:r>
          </a:p>
          <a:p>
            <a:pPr algn="l">
              <a:spcAft>
                <a:spcPts val="22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  Data handling: pandas and NumPy.</a:t>
            </a:r>
          </a:p>
          <a:p>
            <a:pPr algn="l">
              <a:spcAft>
                <a:spcPts val="22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  Models: scikit-learn - RandomForest, Linear Regression, Ridge.</a:t>
            </a:r>
          </a:p>
          <a:p>
            <a:pPr algn="l">
              <a:spcAft>
                <a:spcPts val="22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  Charts: Matplotlib.</a:t>
            </a:r>
          </a:p>
          <a:p>
            <a:pPr algn="l">
              <a:spcAft>
                <a:spcPts val="22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  Interface: Tkinter.   Save / Load: Joblib.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3512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137160"/>
            <a:ext cx="3200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Gold Price Prediction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8016" cy="3840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73952"/>
            <a:ext cx="10362895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Sanchay Bhardwaj (2300650100104)  |  B.S.A. College of Engineering &amp; Technology, Mathura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73952"/>
            <a:ext cx="11887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Slide 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737360"/>
          <a:ext cx="66751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8780"/>
                <a:gridCol w="1668780"/>
                <a:gridCol w="1668780"/>
                <a:gridCol w="1668780"/>
              </a:tblGrid>
              <a:tr h="621792">
                <a:tc>
                  <a:txBody>
                    <a:bodyPr anchor="ctr"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MAE (USD)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RMSE (USD)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R-squared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621792">
                <a:tc>
                  <a:txBody>
                    <a:bodyPr anchor="ctr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400" b="1">
                          <a:solidFill>
                            <a:srgbClr val="C9A227"/>
                          </a:solidFill>
                          <a:latin typeface="Calibri"/>
                        </a:rPr>
                        <a:t>RandomForest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400" b="1">
                          <a:solidFill>
                            <a:srgbClr val="C9A227"/>
                          </a:solidFill>
                          <a:latin typeface="Calibri"/>
                        </a:rPr>
                        <a:t>32.71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400" b="1">
                          <a:solidFill>
                            <a:srgbClr val="C9A227"/>
                          </a:solidFill>
                          <a:latin typeface="Calibri"/>
                        </a:rPr>
                        <a:t>44.47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400" b="1">
                          <a:solidFill>
                            <a:srgbClr val="C9A227"/>
                          </a:solidFill>
                          <a:latin typeface="Calibri"/>
                        </a:rPr>
                        <a:t>0.9613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</a:tr>
              <a:tr h="621792">
                <a:tc>
                  <a:txBody>
                    <a:bodyPr anchor="ctr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400" b="0">
                          <a:solidFill>
                            <a:srgbClr val="222222"/>
                          </a:solidFill>
                          <a:latin typeface="Calibri"/>
                        </a:rPr>
                        <a:t>Linear Regression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400" b="0">
                          <a:solidFill>
                            <a:srgbClr val="222222"/>
                          </a:solidFill>
                          <a:latin typeface="Calibri"/>
                        </a:rPr>
                        <a:t>32.91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400" b="0">
                          <a:solidFill>
                            <a:srgbClr val="222222"/>
                          </a:solidFill>
                          <a:latin typeface="Calibri"/>
                        </a:rPr>
                        <a:t>44.60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400" b="0">
                          <a:solidFill>
                            <a:srgbClr val="222222"/>
                          </a:solidFill>
                          <a:latin typeface="Calibri"/>
                        </a:rPr>
                        <a:t>0.9611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anchor="ctr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400" b="0">
                          <a:solidFill>
                            <a:srgbClr val="222222"/>
                          </a:solidFill>
                          <a:latin typeface="Calibri"/>
                        </a:rPr>
                        <a:t>Ridge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400" b="0">
                          <a:solidFill>
                            <a:srgbClr val="222222"/>
                          </a:solidFill>
                          <a:latin typeface="Calibri"/>
                        </a:rPr>
                        <a:t>33.33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400" b="0">
                          <a:solidFill>
                            <a:srgbClr val="222222"/>
                          </a:solidFill>
                          <a:latin typeface="Calibri"/>
                        </a:rPr>
                        <a:t>45.50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400" b="0">
                          <a:solidFill>
                            <a:srgbClr val="222222"/>
                          </a:solidFill>
                          <a:latin typeface="Calibri"/>
                        </a:rPr>
                        <a:t>0.9595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</a:tr>
              <a:tr h="621792">
                <a:tc>
                  <a:txBody>
                    <a:bodyPr anchor="ctr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400" b="0">
                          <a:solidFill>
                            <a:srgbClr val="222222"/>
                          </a:solidFill>
                          <a:latin typeface="Calibri"/>
                        </a:rPr>
                        <a:t>Naive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400" b="0">
                          <a:solidFill>
                            <a:srgbClr val="222222"/>
                          </a:solidFill>
                          <a:latin typeface="Calibri"/>
                        </a:rPr>
                        <a:t>36.14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400" b="0">
                          <a:solidFill>
                            <a:srgbClr val="222222"/>
                          </a:solidFill>
                          <a:latin typeface="Calibri"/>
                        </a:rPr>
                        <a:t>47.97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400" b="0">
                          <a:solidFill>
                            <a:srgbClr val="222222"/>
                          </a:solidFill>
                          <a:latin typeface="Calibri"/>
                        </a:rPr>
                        <a:t>0.9549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1" name="Picture 10" descr="results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554480"/>
            <a:ext cx="3931920" cy="32918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5212080"/>
            <a:ext cx="6675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RandomForest wins on every metric. Test window: last 60 months (from Jan 2020). Lower MAE / RMSE and higher R-squared are better.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3512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Application - Prediction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137160"/>
            <a:ext cx="3200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Gold Price Prediction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8016" cy="3840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73952"/>
            <a:ext cx="10362895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Sanchay Bhardwaj (2300650100104)  |  B.S.A. College of Engineering &amp; Technology, Mathura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73952"/>
            <a:ext cx="11887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Slide 9</a:t>
            </a:r>
          </a:p>
        </p:txBody>
      </p:sp>
      <p:pic>
        <p:nvPicPr>
          <p:cNvPr id="10" name="Picture 9" descr="screenshot_predi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3423" y="1325880"/>
            <a:ext cx="6784848" cy="4480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14400" y="5623560"/>
            <a:ext cx="103628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Desktop GUI: choose a horizon and forecast the gold price month by month.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3512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Application - Model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137160"/>
            <a:ext cx="3200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Gold Price Prediction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8016" cy="3840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73952"/>
            <a:ext cx="10362895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Sanchay Bhardwaj (2300650100104)  |  B.S.A. College of Engineering &amp; Technology, Mathura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73952"/>
            <a:ext cx="11887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Slide 10</a:t>
            </a:r>
          </a:p>
        </p:txBody>
      </p:sp>
      <p:pic>
        <p:nvPicPr>
          <p:cNvPr id="10" name="Picture 9" descr="screenshot_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3423" y="1325880"/>
            <a:ext cx="6784848" cy="4480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14400" y="5623560"/>
            <a:ext cx="103628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Train tab: accuracy table and the error comparison across all models.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3512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137160"/>
            <a:ext cx="3200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Gold Price Prediction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8016" cy="3840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73952"/>
            <a:ext cx="10362895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Sanchay Bhardwaj (2300650100104)  |  B.S.A. College of Engineering &amp; Technology, Mathura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73952"/>
            <a:ext cx="11887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Slide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82296" cy="42976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371600"/>
            <a:ext cx="10728655" cy="4663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2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  RandomForest gave the best accuracy and clearly beat the naive baseline.</a:t>
            </a:r>
          </a:p>
          <a:p>
            <a:pPr algn="l">
              <a:spcAft>
                <a:spcPts val="22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  Predicting returns instead of raw prices made the models reliable on a trending series.</a:t>
            </a:r>
          </a:p>
          <a:p>
            <a:pPr algn="l">
              <a:spcAft>
                <a:spcPts val="22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  The Tkinter GUI turns the trained model into an easy-to-use forecasting tool.</a:t>
            </a:r>
          </a:p>
          <a:p>
            <a:pPr algn="l">
              <a:spcAft>
                <a:spcPts val="22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  The project demonstrates a complete Machine Learning pipeline from data to interface.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3512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Future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137160"/>
            <a:ext cx="3200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Gold Price Prediction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8016" cy="3840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73952"/>
            <a:ext cx="10362895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Sanchay Bhardwaj (2300650100104)  |  B.S.A. College of Engineering &amp; Technology, Mathura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73952"/>
            <a:ext cx="11887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Slide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82296" cy="42976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371600"/>
            <a:ext cx="10728655" cy="4663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2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  Add real economic features such as inflation, USD index and interest rates.</a:t>
            </a:r>
          </a:p>
          <a:p>
            <a:pPr algn="l">
              <a:spcAft>
                <a:spcPts val="22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  Try deep-learning time-series models like LSTM for longer forecasts.</a:t>
            </a:r>
          </a:p>
          <a:p>
            <a:pPr algn="l">
              <a:spcAft>
                <a:spcPts val="22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  Connect a live gold price API so predictions always use current data.</a:t>
            </a:r>
          </a:p>
          <a:p>
            <a:pPr algn="l">
              <a:spcAft>
                <a:spcPts val="22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  Show a confidence range instead of a single predicted value.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4612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llege_logo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5767" y="822960"/>
            <a:ext cx="1280160" cy="1280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4688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1036289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600"/>
              </a:spcAft>
            </a:pPr>
            <a:r>
              <a:rPr sz="1800" b="0">
                <a:solidFill>
                  <a:srgbClr val="C9A227"/>
                </a:solidFill>
                <a:latin typeface="Calibri"/>
              </a:rPr>
              <a:t>Questions &amp; suggestions are welcome</a:t>
            </a:r>
          </a:p>
          <a:p>
            <a:pPr algn="ctr">
              <a:spcAft>
                <a:spcPts val="3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Sanchay Bhardwaj  (2300650100104)</a:t>
            </a:r>
          </a:p>
          <a:p>
            <a:pPr algn="ctr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Guide: Mrs. Ashna Thakur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C9A227"/>
                </a:solidFill>
                <a:latin typeface="Calibri"/>
              </a:rPr>
              <a:t>B.S.A. College of Engineering &amp; Technology, Mathura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